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10362895" cy="5394960"/>
          </a:xfrm>
          <a:prstGeom prst="roundRect">
            <a:avLst/>
          </a:prstGeom>
          <a:solidFill>
            <a:srgbClr val="121725"/>
          </a:solidFill>
          <a:ln w="254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05840"/>
            <a:ext cx="9601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600" b="1">
                <a:solidFill>
                  <a:srgbClr val="F3CF7A"/>
                </a:solidFill>
                <a:latin typeface="Times New Roman"/>
              </a:defRPr>
            </a:pPr>
            <a:r>
              <a:t>BÁO CÁO TỔNG QUAN HỆ THỐNG &amp; CHỨC NĂNG</a:t>
            </a:r>
          </a:p>
          <a:p>
            <a:pPr algn="ctr">
              <a:spcAft>
                <a:spcPts val="600"/>
              </a:spcAft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CINETICKET VIP CINEMA</a:t>
            </a:r>
          </a:p>
          <a:p>
            <a:pPr algn="ctr">
              <a:spcAft>
                <a:spcPts val="3000"/>
              </a:spcAft>
              <a:defRPr sz="1600" b="0">
                <a:solidFill>
                  <a:srgbClr val="38BDF8"/>
                </a:solidFill>
                <a:latin typeface="Times New Roman"/>
              </a:defRPr>
            </a:pPr>
            <a:r>
              <a:t>Hệ Thống Đặt Vé Xem Phim Trực Tuyến &amp; Cổng Thanh Toán Mã QR</a:t>
            </a:r>
          </a:p>
          <a:p>
            <a:pPr algn="ctr">
              <a:spcAft>
                <a:spcPts val="800"/>
              </a:spcAft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Sinh viên: Nguyễn Ngọc Hà Thảo  |  MSSV: 501250482</a:t>
            </a:r>
          </a:p>
          <a:p>
            <a:pPr algn="ctr">
              <a:spcAft>
                <a:spcPts val="800"/>
              </a:spcAft>
              <a:defRPr sz="1600" b="0">
                <a:solidFill>
                  <a:srgbClr val="D2D7E1"/>
                </a:solidFill>
                <a:latin typeface="Times New Roman"/>
              </a:defRPr>
            </a:pPr>
            <a:r>
              <a:t>Giảng viên hướng dẫn: Trần Duy Phương</a:t>
            </a:r>
          </a:p>
          <a:p>
            <a:pPr algn="ctr">
              <a:spcAft>
                <a:spcPts val="800"/>
              </a:spcAft>
              <a:defRPr sz="1600" b="0">
                <a:solidFill>
                  <a:srgbClr val="D2D7E1"/>
                </a:solidFill>
                <a:latin typeface="Times New Roman"/>
              </a:defRPr>
            </a:pPr>
            <a:r>
              <a:t>Trụ sở: 12 Trịnh Đình Thảo, Tân Phú, TP.HCM  |  0337191740</a:t>
            </a:r>
          </a:p>
          <a:p>
            <a:pPr algn="ctr">
              <a:spcAft>
                <a:spcPts val="0"/>
              </a:spcAft>
              <a:defRPr sz="1600" b="1">
                <a:solidFill>
                  <a:srgbClr val="F3CF7A"/>
                </a:solidFill>
                <a:latin typeface="Times New Roman"/>
              </a:defRPr>
            </a:pPr>
            <a:r>
              <a:t>Email Admin: hthaongn@gmail.com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CINETICKET VIP  •  CHỨC NĂNG #01  •  TRANG CHỦ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TRANG CHỦ (HOME PAGE)  –  /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5120640" cy="5120640"/>
          </a:xfrm>
          <a:prstGeom prst="roundRect">
            <a:avLst/>
          </a:prstGeom>
          <a:solidFill>
            <a:srgbClr val="121725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CF7A"/>
                </a:solidFill>
                <a:latin typeface="Times New Roman"/>
              </a:defRPr>
            </a:pPr>
            <a:r>
              <a:t>CHỨC NĂNG CHÍNH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Banner Hero Slider – bom tấn nổi bật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Phim Đang Chiếu / Phim Sắp Chiếu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Bộ lọc thể loại tức thì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Top Trending – xếp hạng lượng vé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Header điều hướng &amp; Footer thông tin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417320"/>
            <a:ext cx="6035040" cy="5120640"/>
          </a:xfrm>
          <a:prstGeom prst="roundRect">
            <a:avLst/>
          </a:prstGeom>
          <a:solidFill>
            <a:srgbClr val="121725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_trang_ch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554480"/>
            <a:ext cx="5760720" cy="36210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833872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📸  Giao diện Trang chủ CineTicket VIP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CINETICKET VIP  •  CHỨC NĂNG #02  •  DANH MỤC PHIM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DANH MỤC LỊCH CHIẾU &amp; BỘ LỌC THỂ LOẠI  –  /movies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5120640" cy="5120640"/>
          </a:xfrm>
          <a:prstGeom prst="roundRect">
            <a:avLst/>
          </a:prstGeom>
          <a:solidFill>
            <a:srgbClr val="121725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CF7A"/>
                </a:solidFill>
                <a:latin typeface="Times New Roman"/>
              </a:defRPr>
            </a:pPr>
            <a:r>
              <a:t>CHỨC NĂNG CHÍNH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Toàn bộ kho phim kèm poster &amp; thông số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Lọc nhanh theo thể loại (Hành động, Viễn tưởng…)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Tìm kiếm phim theo tên / đạo diễn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Điểm IMDb, thời lượng, độ tuổi (T13/T16/T18)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Nút Đặt Vé &amp; Xem Chi Tiết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417320"/>
            <a:ext cx="6035040" cy="5120640"/>
          </a:xfrm>
          <a:prstGeom prst="roundRect">
            <a:avLst/>
          </a:prstGeom>
          <a:solidFill>
            <a:srgbClr val="121725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2_danh_sach_ph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554480"/>
            <a:ext cx="5760720" cy="36210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833872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📸  Trang danh mục phim &amp; bộ lọc thể loại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CINETICKET VIP  •  CHỨC NĂNG #03  •  CHI TIẾT PHIM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CHI TIẾT PHIM, TRAILER &amp; CHỌN SUẤT CHIẾU  –  /movie/:id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5120640" cy="5120640"/>
          </a:xfrm>
          <a:prstGeom prst="roundRect">
            <a:avLst/>
          </a:prstGeom>
          <a:solidFill>
            <a:srgbClr val="121725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CF7A"/>
                </a:solidFill>
                <a:latin typeface="Times New Roman"/>
              </a:defRPr>
            </a:pPr>
            <a:r>
              <a:t>CHỨC NĂNG CHÍNH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Đạo diễn, diễn viên, thời lượng, quốc gia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Trailer Full HD nhúng trực tiếp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Chọn cụm rạp, ngày chiếu, khung giờ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Phòng chiếu VIP Gold Class / Laser IMAX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Đánh giá &amp; bình luận khán giả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417320"/>
            <a:ext cx="6035040" cy="5120640"/>
          </a:xfrm>
          <a:prstGeom prst="roundRect">
            <a:avLst/>
          </a:prstGeom>
          <a:solidFill>
            <a:srgbClr val="121725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_chi_tiet_ph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554480"/>
            <a:ext cx="5760720" cy="36210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833872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📸  Trang chi tiết phim &amp; chọn suất chiếu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CINETICKET VIP  •  CHỨC NĂNG #04  •  SƠ ĐỒ GHẾ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SƠ ĐỒ CHỌN GHẾ VIP 5 SAO  –  /seat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5120640" cy="5120640"/>
          </a:xfrm>
          <a:prstGeom prst="roundRect">
            <a:avLst/>
          </a:prstGeom>
          <a:solidFill>
            <a:srgbClr val="121725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CF7A"/>
                </a:solidFill>
                <a:latin typeface="Times New Roman"/>
              </a:defRPr>
            </a:pPr>
            <a:r>
              <a:t>CHỨC NĂNG CHÍNH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Màn hình cong Cinema Screen trực quan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Ghế Thường / VIP Gold Class / Sweetbox Đôi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Màu sắc trạng thái: Trống / Đang chọn / Đã đặt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Tự động tính tiền theo loại ghế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Cơ chế khóa ghế – chống trùng lặp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417320"/>
            <a:ext cx="6035040" cy="5120640"/>
          </a:xfrm>
          <a:prstGeom prst="roundRect">
            <a:avLst/>
          </a:prstGeom>
          <a:solidFill>
            <a:srgbClr val="121725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4_so_do_chon_g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554480"/>
            <a:ext cx="5760720" cy="36210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833872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📸  Sơ đồ phòng chiếu VIP thời gian thực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CINETICKET VIP  •  CHỨC NĂNG #05  •  BẮP NƯỚC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THỰC ĐƠN COMBO BẮP NƯỚC &amp; TẠM TÍNH  –  /snack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5120640" cy="5120640"/>
          </a:xfrm>
          <a:prstGeom prst="roundRect">
            <a:avLst/>
          </a:prstGeom>
          <a:solidFill>
            <a:srgbClr val="121725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CF7A"/>
                </a:solidFill>
                <a:latin typeface="Times New Roman"/>
              </a:defRPr>
            </a:pPr>
            <a:r>
              <a:t>CHỨC NĂNG CHÍNH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Bắp rang phô mai, caramel, nước ngọt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Combo Solo / Couple VIP / Family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Nút tăng/giảm (+/–) số lượng tức thì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Tạm tính: vé ghế + bắp nước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Bỏ qua hoặc tiếp tục sang thanh toán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417320"/>
            <a:ext cx="6035040" cy="5120640"/>
          </a:xfrm>
          <a:prstGeom prst="roundRect">
            <a:avLst/>
          </a:prstGeom>
          <a:solidFill>
            <a:srgbClr val="121725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_chon_bap_nu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554480"/>
            <a:ext cx="5760720" cy="36210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833872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📸  Thực đơn combo &amp; hóa đơn tạm tính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CINETICKET VIP  •  CHỨC NĂNG #06  •  GIỎ VÉ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GIỎ VÉ CỦA BẠN (CART)  –  /cart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5120640" cy="5120640"/>
          </a:xfrm>
          <a:prstGeom prst="roundRect">
            <a:avLst/>
          </a:prstGeom>
          <a:solidFill>
            <a:srgbClr val="121725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CF7A"/>
                </a:solidFill>
                <a:latin typeface="Times New Roman"/>
              </a:defRPr>
            </a:pPr>
            <a:r>
              <a:t>CHỨC NĂNG CHÍNH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Danh sách vé: poster, thể loại, đơn giá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Tăng/giảm số lượng hoặc xóa vé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Voucher giảm giá: VIP25, CINETICKET (–20%)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Tạm tính / Giảm giá / Tổng thanh toán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Điều hướng sang chọn ghế hoặc thanh toán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417320"/>
            <a:ext cx="6035040" cy="5120640"/>
          </a:xfrm>
          <a:prstGeom prst="roundRect">
            <a:avLst/>
          </a:prstGeom>
          <a:solidFill>
            <a:srgbClr val="121725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_gio_h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554480"/>
            <a:ext cx="5760720" cy="36210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833872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📸  Giỏ vé với danh sách phim đã chọn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CINETICKET VIP  •  CHỨC NĂNG #07  •  THANH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CỔNG THANH TOÁN VIETQR ADMIN MB BANK  –  /payment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5120640" cy="5120640"/>
          </a:xfrm>
          <a:prstGeom prst="roundRect">
            <a:avLst/>
          </a:prstGeom>
          <a:solidFill>
            <a:srgbClr val="121725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CF7A"/>
                </a:solidFill>
                <a:latin typeface="Times New Roman"/>
              </a:defRPr>
            </a:pPr>
            <a:r>
              <a:t>CHỨC NĂNG CHÍNH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Mã VietQR chuẩn NAPAS – tự điền số tiền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MB Bank – STK 098765432199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1-Click Copy STK &amp; nội dung chuyển khoản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Đa phương thức: VietQR / MoMo / VNPAY / Visa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Form nhập họ tên, SĐT, email nhận vé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417320"/>
            <a:ext cx="6035040" cy="5120640"/>
          </a:xfrm>
          <a:prstGeom prst="roundRect">
            <a:avLst/>
          </a:prstGeom>
          <a:solidFill>
            <a:srgbClr val="121725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7_thanh_toan_viet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554480"/>
            <a:ext cx="5760720" cy="36210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833872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📸  Cổng thanh toán VietQR &amp; thông tin MB Bank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CINETICKET VIP  •  CHỨC NĂNG #08  •  VÉ ĐIỆN TỬ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VÉ ĐIỆN TỬ VIP PASS &amp; IN VÉ  –  /order-success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5120640" cy="5120640"/>
          </a:xfrm>
          <a:prstGeom prst="roundRect">
            <a:avLst/>
          </a:prstGeom>
          <a:solidFill>
            <a:srgbClr val="121725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CF7A"/>
                </a:solidFill>
                <a:latin typeface="Times New Roman"/>
              </a:defRPr>
            </a:pPr>
            <a:r>
              <a:t>CHỨC NĂNG CHÍNH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Thẻ VIP Pass viền vàng kim – ĐÃ THANH TOÁN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Mã QR Check-in (phòng chiếu, ghế, suất)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Cụm rạp / Phòng Laser IMAX / Giờ chiếu / Ghế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Danh sách bắp nước đính kèm đơn hàng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In vé (window.print) – xuất PDF hoặc in giấy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417320"/>
            <a:ext cx="6035040" cy="5120640"/>
          </a:xfrm>
          <a:prstGeom prst="roundRect">
            <a:avLst/>
          </a:prstGeom>
          <a:solidFill>
            <a:srgbClr val="121725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8_ve_dien_tu_thanh_c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554480"/>
            <a:ext cx="5760720" cy="36210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833872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📸  Vé điện tử VIP Pass &amp; mã QR Check-in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CINETICKET VIP  •  CHỨC NĂNG #09  •  MY ORDERS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LỊCH SỬ ĐẶT VÉ &amp; BỘ LỌC TRẠNG THÁI  –  /myorders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5120640" cy="5120640"/>
          </a:xfrm>
          <a:prstGeom prst="roundRect">
            <a:avLst/>
          </a:prstGeom>
          <a:solidFill>
            <a:srgbClr val="121725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CF7A"/>
                </a:solidFill>
                <a:latin typeface="Times New Roman"/>
              </a:defRPr>
            </a:pPr>
            <a:r>
              <a:t>CHỨC NĂNG CHÍNH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Danh sách vé theo trình tự thời gian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Lọc: Tất cả / Đã thanh toán / Chờ xác nhận / Đã hủy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Tên phim, giờ chiếu, ghế, tổng tiền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Xem lại mã QR Check-in bất kỳ lúc nào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Theo dõi và kiểm tra trạng thái đơn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417320"/>
            <a:ext cx="6035040" cy="5120640"/>
          </a:xfrm>
          <a:prstGeom prst="roundRect">
            <a:avLst/>
          </a:prstGeom>
          <a:solidFill>
            <a:srgbClr val="121725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9_lich_su_dat_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554480"/>
            <a:ext cx="5760720" cy="36210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833872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📸  Lịch sử đặt vé &amp; bộ lọc trạng thái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CINETICKET VIP  •  CHỨC NĂNG #10  •  TÀI KHOẢN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QUẢN LÝ TÀI KHOẢN CÁ NHÂN  –  /account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5120640" cy="5120640"/>
          </a:xfrm>
          <a:prstGeom prst="roundRect">
            <a:avLst/>
          </a:prstGeom>
          <a:solidFill>
            <a:srgbClr val="121725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CF7A"/>
                </a:solidFill>
                <a:latin typeface="Times New Roman"/>
              </a:defRPr>
            </a:pPr>
            <a:r>
              <a:t>CHỨC NĂNG CHÍNH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Hồ sơ VIP: họ tên, email, SĐT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Chỉnh sửa thông tin → Lưu Thay Đổi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Đổi mật khẩu (xác nhận mật khẩu cũ)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Lưu vào LocalStorage &amp; SessionStorage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Đăng xuất xóa phiên an toàn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417320"/>
            <a:ext cx="6035040" cy="5120640"/>
          </a:xfrm>
          <a:prstGeom prst="roundRect">
            <a:avLst/>
          </a:prstGeom>
          <a:solidFill>
            <a:srgbClr val="121725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0_quan_ly_tai_kho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554480"/>
            <a:ext cx="5760720" cy="36210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833872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📸  Trang quản lý tài khoản &amp; đổi mật khẩu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CINETICKET VIP  •  CHỨC NĂNG #11  •  ĐĂNG NHẬP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ĐĂNG NHẬP &amp; ĐĂNG KÝ THÀNH VIÊN VIP  –  /login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5120640" cy="5120640"/>
          </a:xfrm>
          <a:prstGeom prst="roundRect">
            <a:avLst/>
          </a:prstGeom>
          <a:solidFill>
            <a:srgbClr val="121725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CF7A"/>
                </a:solidFill>
                <a:latin typeface="Times New Roman"/>
              </a:defRPr>
            </a:pPr>
            <a:r>
              <a:t>CHỨC NĂNG CHÍNH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Giao diện Glassmorphism Dark Luxury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2 vai trò: Member (xem phim) &amp; Admin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Nút điền nhanh Demo 1-Click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Form đăng ký (Validation họ tên / email / mật khẩu)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Ghi nhớ phiên – bảo mật quyền truy cập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417320"/>
            <a:ext cx="6035040" cy="5120640"/>
          </a:xfrm>
          <a:prstGeom prst="roundRect">
            <a:avLst/>
          </a:prstGeom>
          <a:solidFill>
            <a:srgbClr val="121725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1_dang_nh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554480"/>
            <a:ext cx="5760720" cy="36210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833872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📸  Trang đăng nhập &amp; đăng ký thành viên VIP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CINETICKET VIP  •  CHỨC NĂNG #12  •  ADMIN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ADMIN: THỐNG KÊ DOANH THU &amp; KPI  –  /admin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5120640" cy="5120640"/>
          </a:xfrm>
          <a:prstGeom prst="roundRect">
            <a:avLst/>
          </a:prstGeom>
          <a:solidFill>
            <a:srgbClr val="121725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CF7A"/>
                </a:solidFill>
                <a:latin typeface="Times New Roman"/>
              </a:defRPr>
            </a:pPr>
            <a:r>
              <a:t>CHỨC NĂNG CHÍNH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KPI: Doanh thu / Vé bán / Phim chiếu / Thành viên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Biểu đồ doanh thu theo tuần / tháng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Bảng giao dịch mới nhất &amp; trạng thái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Phân quyền: chỉ role admin được truy cập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Dashboard tải nhanh – điều hành trực quan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417320"/>
            <a:ext cx="6035040" cy="5120640"/>
          </a:xfrm>
          <a:prstGeom prst="roundRect">
            <a:avLst/>
          </a:prstGeom>
          <a:solidFill>
            <a:srgbClr val="121725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2_admin_thong_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554480"/>
            <a:ext cx="5760720" cy="36210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833872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📸  Admin Dashboard – KPI &amp; biểu đồ doanh thu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CINETICKET VIP  •  CHỨC NĂNG #13  •  QUẢN LÝ PHIM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ADMIN: QUẢN LÝ KHO PHIM &amp; SUẤT CHIẾU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5120640" cy="5120640"/>
          </a:xfrm>
          <a:prstGeom prst="roundRect">
            <a:avLst/>
          </a:prstGeom>
          <a:solidFill>
            <a:srgbClr val="121725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CF7A"/>
                </a:solidFill>
                <a:latin typeface="Times New Roman"/>
              </a:defRPr>
            </a:pPr>
            <a:r>
              <a:t>CHỨC NĂNG CHÍNH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Danh sách phim: poster, thể loại, giá vé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Thêm phim mới (poster URL, trailer, tóm tắt)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Chỉnh sửa thông tin phim (Edit Movie)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Xóa / ẩn phim đã ngừng chiếu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Đồng bộ tức thì sang trang chủ &amp; danh mục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417320"/>
            <a:ext cx="6035040" cy="5120640"/>
          </a:xfrm>
          <a:prstGeom prst="roundRect">
            <a:avLst/>
          </a:prstGeom>
          <a:solidFill>
            <a:srgbClr val="121725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3_admin_quan_ly_ph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554480"/>
            <a:ext cx="5760720" cy="36210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833872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📸  Admin – danh sách phim &amp; nút Thêm/Sửa/Xóa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CINETICKET VIP  •  CHỨC NĂNG #14  •  CÀI ĐẶT QR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ADMIN: CÀI ĐẶT MÃ QR &amp; TÀI KHOẢN NGÂN HÀNG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5120640" cy="5120640"/>
          </a:xfrm>
          <a:prstGeom prst="roundRect">
            <a:avLst/>
          </a:prstGeom>
          <a:solidFill>
            <a:srgbClr val="121725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CF7A"/>
                </a:solidFill>
                <a:latin typeface="Times New Roman"/>
              </a:defRPr>
            </a:pPr>
            <a:r>
              <a:t>CHỨC NĂNG CHÍNH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Cấu hình ngân hàng: MB Bank / VCB / Viettin…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Số tài khoản &amp; tên chủ tài khoản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Ví MoMo Admin: 0337191740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Live VietQR Preview – khách thấy ngay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Lưu cấu hình bền vững (LocalStorage)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417320"/>
            <a:ext cx="6035040" cy="5120640"/>
          </a:xfrm>
          <a:prstGeom prst="roundRect">
            <a:avLst/>
          </a:prstGeom>
          <a:solidFill>
            <a:srgbClr val="121725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4_admin_cai_dat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554480"/>
            <a:ext cx="5760720" cy="36210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833872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📸  Admin – cài đặt mã QR &amp; live preview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CINETICKET VIP  •  CHỨC NĂNG #15  •  LIÊN HỆ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TRANG LIÊN HỆ &amp; BẢN ĐỒ TRỤ SỞ RẠP  –  /contact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17320"/>
            <a:ext cx="5120640" cy="5120640"/>
          </a:xfrm>
          <a:prstGeom prst="roundRect">
            <a:avLst/>
          </a:prstGeom>
          <a:solidFill>
            <a:srgbClr val="121725"/>
          </a:solidFill>
          <a:ln w="1524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CF7A"/>
                </a:solidFill>
                <a:latin typeface="Times New Roman"/>
              </a:defRPr>
            </a:pPr>
            <a:r>
              <a:t>CHỨC NĂNG CHÍNH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12 Trịnh Đình Thảo, Tân Phú, TP.HCM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Hotline 24/7: 0337191740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Email: hthaongn@gmail.com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Bản đồ Google Maps tích hợp trực tiếp</a:t>
            </a:r>
          </a:p>
          <a:p>
            <a:pPr>
              <a:spcAft>
                <a:spcPts val="800"/>
              </a:spcAft>
              <a:defRPr sz="1600">
                <a:solidFill>
                  <a:srgbClr val="D2D7E1"/>
                </a:solidFill>
                <a:latin typeface="Times New Roman"/>
              </a:defRPr>
            </a:pPr>
            <a:r>
              <a:t>▸  Form gửi liên hệ &amp; góp 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417320"/>
            <a:ext cx="6035040" cy="5120640"/>
          </a:xfrm>
          <a:prstGeom prst="roundRect">
            <a:avLst/>
          </a:prstGeom>
          <a:solidFill>
            <a:srgbClr val="121725"/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5_trang_lien_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554480"/>
            <a:ext cx="5760720" cy="36210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833872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3CF7A"/>
                </a:solidFill>
                <a:latin typeface="Times New Roman"/>
              </a:defRPr>
            </a:pPr>
            <a:r>
              <a:t>📸  Trang liên hệ – bản đồ &amp; hotline 24/7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