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21725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188720"/>
            <a:ext cx="92656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3CF7A"/>
                </a:solidFill>
              </a:defRPr>
            </a:pPr>
            <a:r>
              <a:t>BÁO CÁO TỔNG QUAN HỆ THỐNG &amp; CHỨC NĂNG</a:t>
            </a:r>
          </a:p>
          <a:p>
            <a:pPr algn="ctr"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CINETICKET VIP CINEMA</a:t>
            </a:r>
          </a:p>
          <a:p>
            <a:pPr algn="ctr">
              <a:spcAft>
                <a:spcPts val="2800"/>
              </a:spcAft>
              <a:defRPr sz="1600">
                <a:solidFill>
                  <a:srgbClr val="38BDF8"/>
                </a:solidFill>
              </a:defRPr>
            </a:pPr>
            <a:r>
              <a:t>Hệ Thống Đặt Vé Xem Phim Trực Tuyến &amp; Cổng Thanh Toán Mã QR Thông Minh</a:t>
            </a:r>
          </a:p>
          <a:p>
            <a:pPr algn="ctr"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• Sinh viên thực hiện: Nguyễn Ngọc Hà Thảo  |  MSSV: 501250482</a:t>
            </a:r>
          </a:p>
          <a:p>
            <a:pPr algn="ctr">
              <a:spcAft>
                <a:spcPts val="600"/>
              </a:spcAft>
              <a:defRPr sz="1300">
                <a:solidFill>
                  <a:srgbClr val="B4BECD"/>
                </a:solidFill>
              </a:defRPr>
            </a:pPr>
            <a:r>
              <a:t>• Trụ sở rạp: 12 Trịnh Đình Thảo, Tân Phú, TP.HCM  |  Hotline: 0337191740 (24/7)</a:t>
            </a:r>
          </a:p>
          <a:p>
            <a:pPr algn="ctr">
              <a:defRPr sz="1300" b="1">
                <a:solidFill>
                  <a:srgbClr val="F3CF7A"/>
                </a:solidFill>
              </a:defRPr>
            </a:pPr>
            <a:r>
              <a:t>• Email Admin quản trị hệ thống: hthaongn@gmail.com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3CF7A"/>
                </a:solidFill>
              </a:defRPr>
            </a:pPr>
            <a:r>
              <a:t>CINETICKET VIP CINEMA • CHỨC NĂNG #01 • TRANG CHỦ &amp; GIAO DIỆN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TRANG CHỦ (HOME PAGE) &amp; BANNER BOM TẤN NỔI BẬT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937760" cy="4937760"/>
          </a:xfrm>
          <a:prstGeom prst="roundRect">
            <a:avLst/>
          </a:prstGeom>
          <a:solidFill>
            <a:srgbClr val="121725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3CF7A"/>
                </a:solidFill>
              </a:defRPr>
            </a:pPr>
            <a:r>
              <a:t>CHI TIẾT CHỨC NĂNG &amp; ĐIỂM NỔI BẬT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Banner Hero Slider: Trình chiếu các bom tấn điện ảnh nổi bật với đồ họa chuyển động cao cấp.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Phân loại danh mục phim: Tab 'Phim Đang Chiếu' (Now Showing) và 'Phim Sắp Chiếu' (Coming Soon).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Bộ lọc thể loại tức thì: Lọc nhanh theo Hành động, Khoa học viễn tưởng, Hoạt hình, Tâm lý.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Bảng xếp hạng Top Trending: Vinh danh các bộ phim có lượng vé đặt kỷ lục trong tuần.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Header &amp; Footer Dark Luxury: Tích hợp menu điều hướng thông minh, giỏ vé, liên hệ và chính sách rạp.</a:t>
            </a:r>
          </a:p>
          <a:p>
            <a:pPr>
              <a:spcBef>
                <a:spcPts val="1000"/>
              </a:spcBef>
              <a:defRPr sz="1100" b="1">
                <a:solidFill>
                  <a:srgbClr val="10B981"/>
                </a:solidFill>
              </a:defRPr>
            </a:pPr>
            <a:r>
              <a:t>★ Lưu ý: Giao diện chuẩn Dark Luxury hiện đại, tối ưu hiển thị mượt mà trên mọi thiết bị.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532120" cy="4937760"/>
          </a:xfrm>
          <a:prstGeom prst="roundRect">
            <a:avLst/>
          </a:prstGeom>
          <a:solidFill>
            <a:srgbClr val="12172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trang_ch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508760"/>
            <a:ext cx="5257800" cy="33049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80760" y="580644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CF7A"/>
                </a:solidFill>
              </a:defRPr>
            </a:pPr>
            <a:r>
              <a:t>Minh chứng: Giao diện Trang chủ và Hệ thống rạp CineTicket VIP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3CF7A"/>
                </a:solidFill>
              </a:defRPr>
            </a:pPr>
            <a:r>
              <a:t>CINETICKET VIP CINEMA • CHỨC NĂNG #02 • KHÁM PHÁ ĐIỆN ẢNH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DANH MỤC LỊCH CHIẾU PHIM &amp; BỘ LỌC THỂ LOẠI (/movies)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937760" cy="4937760"/>
          </a:xfrm>
          <a:prstGeom prst="roundRect">
            <a:avLst/>
          </a:prstGeom>
          <a:solidFill>
            <a:srgbClr val="121725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3CF7A"/>
                </a:solidFill>
              </a:defRPr>
            </a:pPr>
            <a:r>
              <a:t>CHI TIẾT CHỨC NĂNG &amp; ĐIỂM NỔI BẬT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Trang danh mục phim toàn diện: Trình bày toàn bộ kho phim chiếu rạp kèm poster và thông số kỹ thuật.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Hệ thống lọc theo thể loại: Các nút bấm lọc nhanh Tất Cả, Hành Động, Khoa Học Viễn Tưởng, Hoạt Hình, Tâm Lý...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Thanh tìm kiếm phim thời gian thực: Tìm kiếm tức thì theo tên phim hoặc đạo diễn.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Thẻ thông tin phim chi tiết: Hiển thị điểm đánh giá sao (IMDb), thời lượng, độ tuổi (T13, T16, T18) và giá vé chuẩn.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Nút Đặt Vé &amp; Xem Chi Tiết: Chuyển hướng trực tiếp sang trang chi tiết phim hoặc luồng đặt vé nhanh chóng.</a:t>
            </a:r>
          </a:p>
          <a:p>
            <a:pPr>
              <a:spcBef>
                <a:spcPts val="1000"/>
              </a:spcBef>
              <a:defRPr sz="1100" b="1">
                <a:solidFill>
                  <a:srgbClr val="10B981"/>
                </a:solidFill>
              </a:defRPr>
            </a:pPr>
            <a:r>
              <a:t>★ Lưu ý: Người dùng dễ dàng tra cứu và chọn lọc bộ phim phù hợp nhất chỉ với một cú nhấp chuột.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532120" cy="4937760"/>
          </a:xfrm>
          <a:prstGeom prst="roundRect">
            <a:avLst/>
          </a:prstGeom>
          <a:solidFill>
            <a:srgbClr val="12172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danh_sach_ph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508760"/>
            <a:ext cx="5257800" cy="33049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80760" y="580644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CF7A"/>
                </a:solidFill>
              </a:defRPr>
            </a:pPr>
            <a:r>
              <a:t>Minh chứng: Trang danh mục phim kèm thanh tìm kiếm và bộ lọc thể loại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3CF7A"/>
                </a:solidFill>
              </a:defRPr>
            </a:pPr>
            <a:r>
              <a:t>CINETICKET VIP CINEMA • CHỨC NĂNG #03 • LỊCH CHIẾU PHIM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CHI TIẾT PHIM, TRAILER &amp; KHUNG CHỌN SUẤT CHIẾU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937760" cy="4937760"/>
          </a:xfrm>
          <a:prstGeom prst="roundRect">
            <a:avLst/>
          </a:prstGeom>
          <a:solidFill>
            <a:srgbClr val="121725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3CF7A"/>
                </a:solidFill>
              </a:defRPr>
            </a:pPr>
            <a:r>
              <a:t>CHI TIẾT CHỨC NĂNG &amp; ĐIỂM NỔI BẬT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Thông tin phim toàn diện: Đạo diễn, diễn viên, thời lượng, quốc gia, tóm tắt nội dung cốt truyện kịch tính.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Trailer phim nhúng sắc nét: Khách hàng có thể xem trailer Full HD có phụ đề trực tiếp trên trang.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Hệ thống chọn lịch chiếu thông minh: Lựa chọn cụm rạp, ngày chiếu và các khung giờ chiếu linh hoạt.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Phân phòng chiếu chuyên biệt: Hiển thị rõ số phòng chiếu (Phòng VIP Gold Class, Laser IMAX, Standard).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Đánh giá &amp; Bình luận của khán giả: Xem các phản hồi thực tế và gửi bình luận chấm điểm sao cho phim.</a:t>
            </a:r>
          </a:p>
          <a:p>
            <a:pPr>
              <a:spcBef>
                <a:spcPts val="1000"/>
              </a:spcBef>
              <a:defRPr sz="1100" b="1">
                <a:solidFill>
                  <a:srgbClr val="10B981"/>
                </a:solidFill>
              </a:defRPr>
            </a:pPr>
            <a:r>
              <a:t>★ Lưu ý: Khung giờ và phòng chiếu được kết nối trực tiếp với sơ đồ chọn ghế thời gian thực.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532120" cy="4937760"/>
          </a:xfrm>
          <a:prstGeom prst="roundRect">
            <a:avLst/>
          </a:prstGeom>
          <a:solidFill>
            <a:srgbClr val="12172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chi_tiet_ph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508760"/>
            <a:ext cx="5257800" cy="33049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80760" y="580644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CF7A"/>
                </a:solidFill>
              </a:defRPr>
            </a:pPr>
            <a:r>
              <a:t>Minh chứng: Trang chi tiết phim với trailer, mô tả và khung chọn suất chiếu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3CF7A"/>
                </a:solidFill>
              </a:defRPr>
            </a:pPr>
            <a:r>
              <a:t>CINETICKET VIP CINEMA • CHỨC NĂNG #04 • ĐẶT CHỖ TRỰC QUAN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SƠ ĐỒ CHỌN GHẾ VIP 5 SAO THỜI GIAN THỰC (/seat)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937760" cy="4937760"/>
          </a:xfrm>
          <a:prstGeom prst="roundRect">
            <a:avLst/>
          </a:prstGeom>
          <a:solidFill>
            <a:srgbClr val="121725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3CF7A"/>
                </a:solidFill>
              </a:defRPr>
            </a:pPr>
            <a:r>
              <a:t>CHI TIẾT CHỨC NĂNG &amp; ĐIỂM NỔI BẬT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Mô phỏng rạp chiếu chuẩn quốc tế: Thiết kế màn hình cong trung tâm Cinema Screen với góc nhìn trực quan.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Phân loại vị trí ghế ngồi: Ghế Thường (Standard), Ghế VIP (Gold Class), và Ghế Đôi (Sweetbox Couple).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Trạng thái ghế phân biệt bằng màu sắc: Ghế trống, Ghế đang chọn (Vàng gold), Ghế đã có người đặt (Xám).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Tự động tính tiền: Giá vé được cập nhật tức thì theo thời gian thực dựa trên số lượng và loại ghế đã bấm chọn.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Cơ chế khóa ghế thông minh: Ngăn chặn triệt để tình trạng trùng lặp ghế khi khách hàng đặt chỗ.</a:t>
            </a:r>
          </a:p>
          <a:p>
            <a:pPr>
              <a:spcBef>
                <a:spcPts val="1000"/>
              </a:spcBef>
              <a:defRPr sz="1100" b="1">
                <a:solidFill>
                  <a:srgbClr val="10B981"/>
                </a:solidFill>
              </a:defRPr>
            </a:pPr>
            <a:r>
              <a:t>★ Lưu ý: Khách hàng có thể chọn nhiều ghế cùng lúc và hủy chọn linh hoạt trước khi qua bước tiếp theo.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532120" cy="4937760"/>
          </a:xfrm>
          <a:prstGeom prst="roundRect">
            <a:avLst/>
          </a:prstGeom>
          <a:solidFill>
            <a:srgbClr val="12172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so_do_chon_g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508760"/>
            <a:ext cx="5257800" cy="33049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80760" y="580644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CF7A"/>
                </a:solidFill>
              </a:defRPr>
            </a:pPr>
            <a:r>
              <a:t>Minh chứng: Sơ đồ phòng chiếu VIP với màn hình cong và trạng thái ghế thời gian thực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3CF7A"/>
                </a:solidFill>
              </a:defRPr>
            </a:pPr>
            <a:r>
              <a:t>CINETICKET VIP CINEMA • CHỨC NĂNG #05 • DỊCH VỤ ĐI KÈM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THỰC ĐƠN COMBO BẮP NƯỚC &amp; TẠM TÍNH HÓA ĐƠN (/snack)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937760" cy="4937760"/>
          </a:xfrm>
          <a:prstGeom prst="roundRect">
            <a:avLst/>
          </a:prstGeom>
          <a:solidFill>
            <a:srgbClr val="121725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3CF7A"/>
                </a:solidFill>
              </a:defRPr>
            </a:pPr>
            <a:r>
              <a:t>CHI TIẾT CHỨC NĂNG &amp; ĐIỂM NỔI BẬT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Menu ẩm thực rạp phong phú: Bắp rang bơ phô mai, bắp caramel, nước ngọt có ga, nước suối cao cấp.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Combo ưu đãi tiết kiệm: Combo Solo VIP, Combo Couple VIP, Combo Family cho nhóm bạn và gia đình.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Tùy chỉnh số lượng linh hoạt: Nút tăng/giảm (+/-) số lượng món ăn và combo nhanh chóng, trực quan.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Tạm tính hóa đơn thời gian thực: Tự động cộng dồn tiền vé ghế + tiền bắp nước sang bước thanh toán.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Bước đệm tiện lợi: Có thể chọn thêm bắp nước hoặc bấm Tiếp Tục sang Cổng thanh toán.</a:t>
            </a:r>
          </a:p>
          <a:p>
            <a:pPr>
              <a:spcBef>
                <a:spcPts val="1000"/>
              </a:spcBef>
              <a:defRPr sz="1100" b="1">
                <a:solidFill>
                  <a:srgbClr val="10B981"/>
                </a:solidFill>
              </a:defRPr>
            </a:pPr>
            <a:r>
              <a:t>★ Lưu ý: Tất cả combo bắp nước đã chọn sẽ được hiển thị chi tiết trong hóa đơn và vé điện tử.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532120" cy="4937760"/>
          </a:xfrm>
          <a:prstGeom prst="roundRect">
            <a:avLst/>
          </a:prstGeom>
          <a:solidFill>
            <a:srgbClr val="12172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_chon_bap_nu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508760"/>
            <a:ext cx="5257800" cy="33049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80760" y="580644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CF7A"/>
                </a:solidFill>
              </a:defRPr>
            </a:pPr>
            <a:r>
              <a:t>Minh chứng: Giao diện chọn combo bắp nước và hóa đơn tạm tính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3CF7A"/>
                </a:solidFill>
              </a:defRPr>
            </a:pPr>
            <a:r>
              <a:t>CINETICKET VIP CINEMA • CHỨC NĂNG #06 • QUẢN LÝ ĐƠN HÀNG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GIỎ VÉ CỦA BẠN &amp; QUẢN LÝ VÉ ĐÃ CHỌN (/cart)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937760" cy="4937760"/>
          </a:xfrm>
          <a:prstGeom prst="roundRect">
            <a:avLst/>
          </a:prstGeom>
          <a:solidFill>
            <a:srgbClr val="121725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3CF7A"/>
                </a:solidFill>
              </a:defRPr>
            </a:pPr>
            <a:r>
              <a:t>CHI TIẾT CHỨC NĂNG &amp; ĐIỂM NỔI BẬT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Bảng giỏ vé trực quan: Liệt kê chi tiết danh sách vé phim đã chọn kèm ảnh poster, thể loại và đơn giá.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Tùy chỉnh số lượng vé: Nút tăng/giảm số lượng hoặc xóa vé khỏi giỏ hàng dễ dàng.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Áp dụng mã giảm giá (Voucher): Nhập mã ưu đãi (VIP25, CINETICKET) để giảm trực tiếp 20% trên tổng bill.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Tóm tắt thanh toán rõ ràng: Tạm tính, tiền giảm giá và tổng tiền phải trả được hiển thị minh bạch.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Điều hướng liền mạch: Nút 'Chọn ghế cho phim này' hoặc bấm nút Thanh Toán Chuyển Khoản nhanh chóng.</a:t>
            </a:r>
          </a:p>
          <a:p>
            <a:pPr>
              <a:spcBef>
                <a:spcPts val="1000"/>
              </a:spcBef>
              <a:defRPr sz="1100" b="1">
                <a:solidFill>
                  <a:srgbClr val="10B981"/>
                </a:solidFill>
              </a:defRPr>
            </a:pPr>
            <a:r>
              <a:t>★ Lưu ý: Giỏ vé được lưu trữ tự động, đảm bảo khách hàng không bị mất thông tin khi duyệt web.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532120" cy="4937760"/>
          </a:xfrm>
          <a:prstGeom prst="roundRect">
            <a:avLst/>
          </a:prstGeom>
          <a:solidFill>
            <a:srgbClr val="12172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_gio_h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508760"/>
            <a:ext cx="5257800" cy="33049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80760" y="580644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CF7A"/>
                </a:solidFill>
              </a:defRPr>
            </a:pPr>
            <a:r>
              <a:t>Minh chứng: Giao diện Giỏ vé với danh sách vé phim đã chọn và bảng tóm tắt hóa đơn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3CF7A"/>
                </a:solidFill>
              </a:defRPr>
            </a:pPr>
            <a:r>
              <a:t>CINETICKET VIP CINEMA • CHỨC NĂNG #07 • CỔNG THANH TOÁN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CỔNG THANH TOÁN QUÉT MÃ VIETQR ADMIN MB BANK (/payment)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937760" cy="4937760"/>
          </a:xfrm>
          <a:prstGeom prst="roundRect">
            <a:avLst/>
          </a:prstGeom>
          <a:solidFill>
            <a:srgbClr val="121725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3CF7A"/>
                </a:solidFill>
              </a:defRPr>
            </a:pPr>
            <a:r>
              <a:t>CHI TIẾT CHỨC NĂNG &amp; ĐIỂM NỔI BẬT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Mã VietQR tự động NAPAS: Tạo mã QR ngân hàng chuẩn xác, tự động điền đúng số tiền và cú pháp chuyển khoản.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Thông tin thụ hưởng Admin rõ ràng: Ngân hàng MB Bank, STK 098765432199, Tên chủ TK: Quản Trị Viên VIP.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Tính năng 1-Click Copy thông minh: Sao chép nhanh STK, số tiền và nội dung chuyển khoản chỉ với 1 chạm.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Hỗ trợ đa phương thức: Quét VietQR, Ví MoMo (0337191740), Cổng VNPAY và Thẻ quốc tế Visa/Mastercard.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Khung thông tin người nhận vé: Điền Họ tên, Số điện thoại và Email để nhận vé điện tử ngay sau khi thanh toán.</a:t>
            </a:r>
          </a:p>
          <a:p>
            <a:pPr>
              <a:spcBef>
                <a:spcPts val="1000"/>
              </a:spcBef>
              <a:defRPr sz="1100" b="1">
                <a:solidFill>
                  <a:srgbClr val="10B981"/>
                </a:solidFill>
              </a:defRPr>
            </a:pPr>
            <a:r>
              <a:t>★ Lưu ý: Mã QR được hiển thị to rõ ở trung tâm, khách hàng có thể quét bằng bất kỳ app ngân hàng nào.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532120" cy="4937760"/>
          </a:xfrm>
          <a:prstGeom prst="roundRect">
            <a:avLst/>
          </a:prstGeom>
          <a:solidFill>
            <a:srgbClr val="12172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7_thanh_toan_viet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508760"/>
            <a:ext cx="5257800" cy="33049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80760" y="580644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CF7A"/>
                </a:solidFill>
              </a:defRPr>
            </a:pPr>
            <a:r>
              <a:t>Minh chứng: Cổng thanh toán VietQR hiển thị mã QR và thông tin tài khoản MB Bank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3CF7A"/>
                </a:solidFill>
              </a:defRPr>
            </a:pPr>
            <a:r>
              <a:t>CINETICKET VIP CINEMA • CHỨC NĂNG #08 • VÉ ĐIỆN TỬ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VÉ ĐIỆN TỬ VIP PASS &amp; TÍNH NĂNG IN VÉ (/order-success)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937760" cy="4937760"/>
          </a:xfrm>
          <a:prstGeom prst="roundRect">
            <a:avLst/>
          </a:prstGeom>
          <a:solidFill>
            <a:srgbClr val="121725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3CF7A"/>
                </a:solidFill>
              </a:defRPr>
            </a:pPr>
            <a:r>
              <a:t>CHI TIẾT CHỨC NĂNG &amp; ĐIỂM NỔI BẬT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Thẻ vé VIP Pass sang trọng: Thiết kế vương giả viền vàng kim với huy hiệu VIP PASS ĐÃ THANH TOÁN.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Mã QR Check-in thời gian thực: Chứa đầy đủ dữ liệu phòng chiếu, ghế ngồi, suất chiếu để nhân viên rạp quét vé.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Thông số vé nổi bật: Hiển thị rõ ràng Cụm rạp, Số phòng chiếu Laser IMAX, Giờ chiếu, Ngày chiếu và Số ghế.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Danh mục bắp nước đính kèm: Liệt kê đầy đủ các món bắp và nước ngọt đã mua trong đơn hàng.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Tính năng In vé điện tử (Print Ticket): Tích hợp hàm in chuẩn trình duyệt (window.print()) hỗ trợ lưu PDF hoặc in giấy.</a:t>
            </a:r>
          </a:p>
          <a:p>
            <a:pPr>
              <a:spcBef>
                <a:spcPts val="1000"/>
              </a:spcBef>
              <a:defRPr sz="1100" b="1">
                <a:solidFill>
                  <a:srgbClr val="10B981"/>
                </a:solidFill>
              </a:defRPr>
            </a:pPr>
            <a:r>
              <a:t>★ Lưu ý: Vé điện tử có đầy đủ mã xác thực, mã QR và hóa đơn thanh toán hợp lệ của CineTicket VIP.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532120" cy="4937760"/>
          </a:xfrm>
          <a:prstGeom prst="roundRect">
            <a:avLst/>
          </a:prstGeom>
          <a:solidFill>
            <a:srgbClr val="12172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_ve_dien_tu_thanh_c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508760"/>
            <a:ext cx="5257800" cy="33049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80760" y="580644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CF7A"/>
                </a:solidFill>
              </a:defRPr>
            </a:pPr>
            <a:r>
              <a:t>Minh chứng: Vé điện tử VIP Pass với mã QR check-in và tính năng in vé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3CF7A"/>
                </a:solidFill>
              </a:defRPr>
            </a:pPr>
            <a:r>
              <a:t>CINETICKET VIP CINEMA • CHỨC NĂNG #09 • QUẢN LÝ ĐƠN HÀNG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LỊCH SỬ ĐẶT VÉ CỦA TÔI (MY ORDERS) &amp; BỘ LỌC TRẠNG THÁI (/myorders)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937760" cy="4937760"/>
          </a:xfrm>
          <a:prstGeom prst="roundRect">
            <a:avLst/>
          </a:prstGeom>
          <a:solidFill>
            <a:srgbClr val="121725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3CF7A"/>
                </a:solidFill>
              </a:defRPr>
            </a:pPr>
            <a:r>
              <a:t>CHI TIẾT CHỨC NĂNG &amp; ĐIỂM NỔI BẬT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Lưu trữ vé thông minh: Quản lý toàn bộ vé điện tử mà thành viên đã đặt theo trình tự thời gian.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Bộ lọc trạng thái linh hoạt: Lọc vé theo 'Tất cả đơn hàng', 'Đã thanh toán', 'Chờ xác nhận', 'Đã hủy'.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Thẻ vé tóm tắt đầy đủ: Hiển thị tên phim, giờ chiếu, số ghế ngồi, tổng tiền thanh toán và phương thức.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Xem lại mã QR &amp; Chi tiết vé: Cho phép khách hàng mở lại mã QR check-in hoặc xem vé điện tử bất cứ lúc nào.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Hỗ trợ hủy vé / kiểm tra: Khách hàng chủ động theo dõi tình trạng đơn đặt vé trực tiếp trên tài khoản.</a:t>
            </a:r>
          </a:p>
          <a:p>
            <a:pPr>
              <a:spcBef>
                <a:spcPts val="1000"/>
              </a:spcBef>
              <a:defRPr sz="1100" b="1">
                <a:solidFill>
                  <a:srgbClr val="10B981"/>
                </a:solidFill>
              </a:defRPr>
            </a:pPr>
            <a:r>
              <a:t>★ Lưu ý: Dữ liệu được bảo lưu tự động giúp khách hàng không bao giờ bị thất lạc vé đã mua.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532120" cy="4937760"/>
          </a:xfrm>
          <a:prstGeom prst="roundRect">
            <a:avLst/>
          </a:prstGeom>
          <a:solidFill>
            <a:srgbClr val="12172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_lich_su_dat_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508760"/>
            <a:ext cx="5257800" cy="33049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80760" y="580644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CF7A"/>
                </a:solidFill>
              </a:defRPr>
            </a:pPr>
            <a:r>
              <a:t>Minh chứng: Trang Lịch sử đặt vé với danh sách đơn hàng và bộ lọc trạng thái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3CF7A"/>
                </a:solidFill>
              </a:defRPr>
            </a:pPr>
            <a:r>
              <a:t>CINETICKET VIP CINEMA • CHỨC NĂNG #10 • TÀI KHOẢN THÀNH VIÊN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QUẢN LÝ THÔNG TIN TÀI KHOẢN CÁ NHÂN &amp; BẢO MẬT (/account)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937760" cy="4937760"/>
          </a:xfrm>
          <a:prstGeom prst="roundRect">
            <a:avLst/>
          </a:prstGeom>
          <a:solidFill>
            <a:srgbClr val="121725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3CF7A"/>
                </a:solidFill>
              </a:defRPr>
            </a:pPr>
            <a:r>
              <a:t>CHI TIẾT CHỨC NĂNG &amp; ĐIỂM NỔI BẬT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Hồ sơ thành viên VIP: Hiển thị Họ và tên (Nguyễn Ngọc Hà Thảo), Email, Số điện thoại và cấp bậc VIP Member.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Cập nhật thông tin cá nhân: Chỉnh sửa họ tên, email, số điện thoại và bấm 'Lưu Thay Đổi'.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Đổi mật khẩu tài khoản: Cơ chế đổi mật khẩu an toàn với xác nhận mật khẩu cũ và mật khẩu mới.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Đồng bộ lưu trữ đa tầng: Lưu trữ tức thì vào cả LocalStorage và SessionStorage, không bị mất khi F5 hoặc mở lại web.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Bảo mật &amp; Đăng xuất an toàn: Nút đăng xuất xóa phiên làm việc an toàn trên trình duyệt.</a:t>
            </a:r>
          </a:p>
          <a:p>
            <a:pPr>
              <a:spcBef>
                <a:spcPts val="1000"/>
              </a:spcBef>
              <a:defRPr sz="1100" b="1">
                <a:solidFill>
                  <a:srgbClr val="10B981"/>
                </a:solidFill>
              </a:defRPr>
            </a:pPr>
            <a:r>
              <a:t>★ Lưu ý: Toàn bộ thông tin cá nhân được mã hóa và lưu trữ nhất quán trên toàn hệ thống.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532120" cy="4937760"/>
          </a:xfrm>
          <a:prstGeom prst="roundRect">
            <a:avLst/>
          </a:prstGeom>
          <a:solidFill>
            <a:srgbClr val="12172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0_quan_ly_tai_kho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508760"/>
            <a:ext cx="5257800" cy="33049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80760" y="580644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CF7A"/>
                </a:solidFill>
              </a:defRPr>
            </a:pPr>
            <a:r>
              <a:t>Minh chứng: Trang Quản lý tài khoản cá nhân, cập nhật hồ sơ và đổi mật khẩu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3CF7A"/>
                </a:solidFill>
              </a:defRPr>
            </a:pPr>
            <a:r>
              <a:t>CINETICKET VIP CINEMA • CHỨC NĂNG #11 • XÁC THỰC NGƯỜI DÙNG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ĐĂNG NHẬP &amp; ĐĂNG KÝ TÀI KHOẢN THÀNH VIÊN VIP (/login)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937760" cy="4937760"/>
          </a:xfrm>
          <a:prstGeom prst="roundRect">
            <a:avLst/>
          </a:prstGeom>
          <a:solidFill>
            <a:srgbClr val="121725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3CF7A"/>
                </a:solidFill>
              </a:defRPr>
            </a:pPr>
            <a:r>
              <a:t>CHI TIẾT CHỨC NĂNG &amp; ĐIỂM NỔI BẬT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Giao diện đăng nhập chuẩn Dark Luxury: Thiết kế hiệu ứng kính thủy tinh Glassmorphism sang trọng và cao cấp.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Phân quyền truy cập 2 vai trò: Thành viên xem phim (Member) và Quản trị viên hệ thống (Admin).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Nút điền nhanh Demo tiện lợi: 1-Click để đăng nhập nhanh tài khoản Khách Hàng VIP hoặc Admin Quản Trị.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Form đăng ký tài khoản mới: Tích hợp xác thực dữ liệu đầu vào (Validation) đầy đủ họ tên, email, mật khẩu.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Lưu trữ phiên đăng nhập: Ghi nhớ thông tin phiên người dùng và bảo mật quyền truy cập các trang nội bộ.</a:t>
            </a:r>
          </a:p>
          <a:p>
            <a:pPr>
              <a:spcBef>
                <a:spcPts val="1000"/>
              </a:spcBef>
              <a:defRPr sz="1100" b="1">
                <a:solidFill>
                  <a:srgbClr val="10B981"/>
                </a:solidFill>
              </a:defRPr>
            </a:pPr>
            <a:r>
              <a:t>★ Lưu ý: Xác thực an toàn, bảo vệ tài khoản và phân quyền truy cập chặt chẽ giữa User và Admin.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532120" cy="4937760"/>
          </a:xfrm>
          <a:prstGeom prst="roundRect">
            <a:avLst/>
          </a:prstGeom>
          <a:solidFill>
            <a:srgbClr val="12172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1_dang_n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508760"/>
            <a:ext cx="5257800" cy="33049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80760" y="580644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CF7A"/>
                </a:solidFill>
              </a:defRPr>
            </a:pPr>
            <a:r>
              <a:t>Minh chứng: Giao diện Đăng nhập với các nút hỗ trợ đăng nhập nhanh tài khoản VIP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3CF7A"/>
                </a:solidFill>
              </a:defRPr>
            </a:pPr>
            <a:r>
              <a:t>CINETICKET VIP CINEMA • CHỨC NĂNG #12 • BẢNG ĐIỀU KHIỂN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ADMIN DASHBOARD: THỐNG KÊ DOANH THU &amp; CHỈ SỐ KPI VẬN HÀNH (/admin)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937760" cy="4937760"/>
          </a:xfrm>
          <a:prstGeom prst="roundRect">
            <a:avLst/>
          </a:prstGeom>
          <a:solidFill>
            <a:srgbClr val="121725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3CF7A"/>
                </a:solidFill>
              </a:defRPr>
            </a:pPr>
            <a:r>
              <a:t>CHI TIẾT CHỨC NĂNG &amp; ĐIỂM NỔI BẬT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Thống kê tổng quan KPI 4 chỉ số: Tổng doanh thu (VNĐ), Tổng số vé đã bán, Số phim đang chiếu, Khách hàng thành viên.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Biểu đồ trực quan hóa dữ liệu: Theo dõi biến động doanh thu theo tuần/tháng và tỷ lệ lấp đầy ghế các phòng chiếu.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Bảng hoạt động giao dịch gần đây: Cập nhật các đơn đặt vé mới nhất kèm trạng thái thanh toán thời gian thực.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Phân quyền quản trị nghiêm ngặt: Chỉ tài khoản có vai trò 'admin' mới được phép truy cập và xem dữ liệu.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Giao diện Dashboard phẳng: Tối ưu tốc độ tải trang và hỗ trợ thao tác điều hành nhanh cho ban quản lý rạp.</a:t>
            </a:r>
          </a:p>
          <a:p>
            <a:pPr>
              <a:spcBef>
                <a:spcPts val="1000"/>
              </a:spcBef>
              <a:defRPr sz="1100" b="1">
                <a:solidFill>
                  <a:srgbClr val="10B981"/>
                </a:solidFill>
              </a:defRPr>
            </a:pPr>
            <a:r>
              <a:t>★ Lưu ý: Giao diện quản trị phong cách Dashboard công nghệ cao, cập nhật số liệu tự động.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532120" cy="4937760"/>
          </a:xfrm>
          <a:prstGeom prst="roundRect">
            <a:avLst/>
          </a:prstGeom>
          <a:solidFill>
            <a:srgbClr val="12172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2_admin_thong_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508760"/>
            <a:ext cx="5257800" cy="33049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80760" y="580644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CF7A"/>
                </a:solidFill>
              </a:defRPr>
            </a:pPr>
            <a:r>
              <a:t>Minh chứng: Bảng điều khiển Quản trị viên với các chỉ số KPI doanh thu và biểu đồ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3CF7A"/>
                </a:solidFill>
              </a:defRPr>
            </a:pPr>
            <a:r>
              <a:t>CINETICKET VIP CINEMA • CHỨC NĂNG #13 • QUẢN TRỊ NỘI DUNG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ADMIN DASHBOARD: QUẢN LÝ KHO PHIM &amp; SUẤT CHIẾU RẠP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937760" cy="4937760"/>
          </a:xfrm>
          <a:prstGeom prst="roundRect">
            <a:avLst/>
          </a:prstGeom>
          <a:solidFill>
            <a:srgbClr val="121725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3CF7A"/>
                </a:solidFill>
              </a:defRPr>
            </a:pPr>
            <a:r>
              <a:t>CHI TIẾT CHỨC NĂNG &amp; ĐIỂM NỔI BẬT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Bảng danh sách phim chiếu rạp: Hiển thị đầy đủ ảnh poster, tên phim, thể loại, thời lượng, giá vé và trạng thái.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Thêm phim mới (Add Movie): Modal nhập liệu phim mới với poster URL, trailer, tóm tắt và phân loại độ tuổi.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Chỉnh sửa thông tin phim (Edit Movie): Cập nhật giá vé, thể loại, đạo diễn và diễn viên nhanh chóng.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Xóa phim khỏi lịch chiếu: Cho phép xóa hoặc ẩn các bộ phim đã ngừng chiếu tại rạp khỏi hệ thống.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Đồng bộ tức thì: Dữ liệu phim cập nhật sẽ phản ánh ngay lập tức trên trang chủ và danh mục cho khách hàng.</a:t>
            </a:r>
          </a:p>
          <a:p>
            <a:pPr>
              <a:spcBef>
                <a:spcPts val="1000"/>
              </a:spcBef>
              <a:defRPr sz="1100" b="1">
                <a:solidFill>
                  <a:srgbClr val="10B981"/>
                </a:solidFill>
              </a:defRPr>
            </a:pPr>
            <a:r>
              <a:t>★ Lưu ý: Toàn bộ kho phim được quản trị tập trung, đảm bảo tính cập nhật liên tục cho rạp.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532120" cy="4937760"/>
          </a:xfrm>
          <a:prstGeom prst="roundRect">
            <a:avLst/>
          </a:prstGeom>
          <a:solidFill>
            <a:srgbClr val="12172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3_admin_quan_ly_ph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508760"/>
            <a:ext cx="5257800" cy="33049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80760" y="580644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CF7A"/>
                </a:solidFill>
              </a:defRPr>
            </a:pPr>
            <a:r>
              <a:t>Minh chứng: Tab Quản lý phim với danh sách phim chiếu rạp và các nút Thêm/Sửa/Xóa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3CF7A"/>
                </a:solidFill>
              </a:defRPr>
            </a:pPr>
            <a:r>
              <a:t>CINETICKET VIP CINEMA • CHỨC NĂNG #14 • QUẢN TRỊ THANH TOÁN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ADMIN DASHBOARD: CÀI ĐẶT MÃ QR &amp; TÀI KHOẢN NGÂN HÀNG THỤ HƯỞNG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937760" cy="4937760"/>
          </a:xfrm>
          <a:prstGeom prst="roundRect">
            <a:avLst/>
          </a:prstGeom>
          <a:solidFill>
            <a:srgbClr val="121725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3CF7A"/>
                </a:solidFill>
              </a:defRPr>
            </a:pPr>
            <a:r>
              <a:t>CHI TIẾT CHỨC NĂNG &amp; ĐIỂM NỔI BẬT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Cấu hình tài khoản ngân hàng nhận tiền: Tùy chọn ngân hàng (MB Bank, VCB, Vietin...), Số tài khoản, Tên chủ tài khoản.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Cấu hình ví MoMo: Nhập số điện thoại ví MoMo Admin (0337191740) để nhận thanh toán tức thời.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Live VietQR Preview: Khung mô phỏng hiển thị trực tiếp mã VietQR mà khách hàng sẽ nhìn thấy khi thanh toán.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Lưu cấu hình thời gian thực: Toàn bộ thay đổi về STK và thông tin ngân hàng được lưu bền vững vào hệ thống.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Đảm bảo đối soát chuẩn xác: Giúp dòng tiền từ vé xem phim đổ trực tiếp về tài khoản chính chủ của Admin.</a:t>
            </a:r>
          </a:p>
          <a:p>
            <a:pPr>
              <a:spcBef>
                <a:spcPts val="1000"/>
              </a:spcBef>
              <a:defRPr sz="1100" b="1">
                <a:solidFill>
                  <a:srgbClr val="10B981"/>
                </a:solidFill>
              </a:defRPr>
            </a:pPr>
            <a:r>
              <a:t>★ Lưu ý: Tính năng cốt lõi giúp hệ thống rạp linh hoạt thay đổi tài khoản ngân hàng thụ hưởng bất kỳ lúc nào.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532120" cy="4937760"/>
          </a:xfrm>
          <a:prstGeom prst="roundRect">
            <a:avLst/>
          </a:prstGeom>
          <a:solidFill>
            <a:srgbClr val="12172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4_admin_cai_dat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508760"/>
            <a:ext cx="5257800" cy="33049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80760" y="580644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CF7A"/>
                </a:solidFill>
              </a:defRPr>
            </a:pPr>
            <a:r>
              <a:t>Minh chứng: Tab Cài đặt mã QR Admin với công cụ cấu hình tài khoản và live preview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3CF7A"/>
                </a:solidFill>
              </a:defRPr>
            </a:pPr>
            <a:r>
              <a:t>CINETICKET VIP CINEMA • CHỨC NĂNG #15 • TỔNG KẾT &amp; LIÊN HỆ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TRANG LIÊN HỆ, HOTLINE 24/7 &amp; BẢN ĐỒ VỊ TRÍ TRỤ SỞ RẠP (/contact)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937760" cy="4937760"/>
          </a:xfrm>
          <a:prstGeom prst="roundRect">
            <a:avLst/>
          </a:prstGeom>
          <a:solidFill>
            <a:srgbClr val="121725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572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3CF7A"/>
                </a:solidFill>
              </a:defRPr>
            </a:pPr>
            <a:r>
              <a:t>CHI TIẾT CHỨC NĂNG &amp; ĐIỂM NỔI BẬT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Địa chỉ trụ sở rạp chiếu: 12 Trịnh Đình Thảo, Phường Hòa Thạnh, Quận Tân Phú, TP. Hồ Chí Minh.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Hotline chăm sóc khách hàng: 0337191740 (Hỗ trợ trực tuyến 24/7 giải đáp mọi thắc mắc về vé và suất chiếu).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Email liên hệ chính thức: hthaongn@gmail.com (Tiếp nhận phản hồi và đối soát đơn hàng).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Tích hợp bản đồ trực quan: Khung bản đồ Google Maps định vị cụm rạp CineTicket VIP giúp khách hàng dễ dàng tìm đường.</a:t>
            </a:r>
          </a:p>
          <a:p>
            <a:pPr>
              <a:spcAft>
                <a:spcPts val="700"/>
              </a:spcAft>
              <a:defRPr sz="1150">
                <a:solidFill>
                  <a:srgbClr val="B4BECD"/>
                </a:solidFill>
              </a:defRPr>
            </a:pPr>
            <a:r>
              <a:t>•  Form gửi liên hệ trực tuyến: Khách hàng có thể để lại lời nhắn, góp ý trực tiếp trên trang web.</a:t>
            </a:r>
          </a:p>
          <a:p>
            <a:pPr>
              <a:spcBef>
                <a:spcPts val="1000"/>
              </a:spcBef>
              <a:defRPr sz="1100" b="1">
                <a:solidFill>
                  <a:srgbClr val="10B981"/>
                </a:solidFill>
              </a:defRPr>
            </a:pPr>
            <a:r>
              <a:t>★ Lưu ý: Hệ thống đáp ứng 100% yêu cầu đồ án với đầy đủ tính năng thực tế và dữ liệu đồng bộ.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532120" cy="4937760"/>
          </a:xfrm>
          <a:prstGeom prst="roundRect">
            <a:avLst/>
          </a:prstGeom>
          <a:solidFill>
            <a:srgbClr val="12172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5_trang_lien_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508760"/>
            <a:ext cx="5257800" cy="33049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80760" y="580644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CF7A"/>
                </a:solidFill>
              </a:defRPr>
            </a:pPr>
            <a:r>
              <a:t>Minh chứng: Trang Liên hệ với bản đồ trụ sở 12 Trịnh Đình Thảo và thông tin hotline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